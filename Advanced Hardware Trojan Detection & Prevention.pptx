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SemiBold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582D87-25AD-4C5A-9DB3-8F8DA57B9C46}">
  <a:tblStyle styleId="{E8582D87-25AD-4C5A-9DB3-8F8DA57B9C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SemiBold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bold.fntdata"/><Relationship Id="rId18" Type="http://schemas.openxmlformats.org/officeDocument/2006/relationships/font" Target="fonts/Urbanis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ccb5c89b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ccb5c89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Relationship Id="rId8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66750" y="859184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4616"/>
                </a:solidFill>
                <a:latin typeface="Urbanist"/>
                <a:ea typeface="Urbanist"/>
                <a:cs typeface="Urbanist"/>
                <a:sym typeface="Urbanist"/>
              </a:rPr>
              <a:t>VULNERABILITY ANALYSIS &amp; COUNTERMEASURES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5275" y="1607926"/>
            <a:ext cx="11401500" cy="1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Hardware Trojan Detection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10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 in AES-128 Crypto Systems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046065"/>
            <a:ext cx="952500" cy="47625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66750" y="4106285"/>
            <a:ext cx="1085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 Full-Flow EDA Framework for Power-Based Security Verification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66750" y="485581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Venkata Shanmukha Sri Sudha Renduchintala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494234"/>
            <a:ext cx="5238750" cy="424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1. Motivation &amp; Project Scope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66750" y="1684734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Modern electronic systems are vulnerable to **Hardware Trojans (HT)**—malicious circuit modifications that can remain dormant for years. My research focuses on the "Stealthy analog trigger" paradigm.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24625" y="1770459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A4616"/>
                </a:solidFill>
                <a:latin typeface="Urbanist"/>
                <a:ea typeface="Urbanist"/>
                <a:cs typeface="Urbanist"/>
                <a:sym typeface="Urbanist"/>
              </a:rPr>
              <a:t>Key Research Question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24625" y="2237184"/>
            <a:ext cx="4762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"Can the minute power signature of an activated analog Trojan be reliably distinguished from normal circuit noise and noise variations?"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24625" y="3389709"/>
            <a:ext cx="4762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Goal: Build a non-invasive side-channel detection framework.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9650" y="301823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47750" y="3018234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Detection Challenge: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Analog Trojans target physical parameters (voltage, power) instead of logic, making standard functional testing obsolete.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9650" y="4018359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47750" y="4018359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Target: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The AES-128 cryptographic algorithm, a high-value target for key exfiltration.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9650" y="473273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47750" y="4732734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Methodology: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Establishing a quantifiable **Power Consumption Threshold** using industry-standard Synopsys tools.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3389709"/>
            <a:ext cx="47625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256234"/>
            <a:ext cx="34924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256234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2700" y="2256234"/>
            <a:ext cx="34924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2. Theoretical Foundation: Taxonomy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66750" y="1684734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To design a detection framework, we must first understand the diverse triggers and actions used by adversaries.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532459"/>
            <a:ext cx="30161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04875" y="2980134"/>
            <a:ext cx="31669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Trigger Mechanisms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04875" y="3427809"/>
            <a:ext cx="30161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Internal: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Activated by node values (Combinational) or sequence of events (Sequential).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Analog: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Reacts to physical conditions like voltage or charge.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7775" y="2532459"/>
            <a:ext cx="3016299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4587775" y="2980134"/>
            <a:ext cx="316711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Payload Actions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587775" y="3427809"/>
            <a:ext cx="30162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Logic: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Modifies functionality or specifications.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Exfiltration: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Leaks sensitive data (Keys) via power, timing, or RF signals.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70825" y="2532459"/>
            <a:ext cx="30161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270825" y="2980134"/>
            <a:ext cx="31669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Analog Stealth (A2)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270825" y="3427809"/>
            <a:ext cx="30161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Uses capacitor charge accumulation from infrequent transitions. Extremely hard to detect as it draws near-zero current during dormancy.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494234"/>
            <a:ext cx="523875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351734"/>
            <a:ext cx="52387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73248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3542109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3. Implementation: Combinational Trojan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66750" y="1684734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The first design phase involved integrating a combinational Trojan into an open-source AES-128 core. The goal was to corrupt the cipher in a predictable way for key recovery.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24625" y="1770459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Vulnerability Analysis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24625" y="2218134"/>
            <a:ext cx="4762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When activated, the AES algorithm produces a **corrupted ciphertext**. While the system appears "broken" to the user, the attacker uses this corrupted output to perform a **Secret Data Retrieval** attack.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38250" y="2732484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Activation: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Triggered by a specific 128-bit "Golden Plaintext" input.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238250" y="3542109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Key Manipulation: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During the **10th Round**, the round key is OR'ed with a trigger register.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867525" y="355163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905625" y="3551634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High stealth: No impact on other plaintexts.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867525" y="383738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905625" y="3837384"/>
            <a:ext cx="438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Precision: Targets only the final round of the encryption pipeline.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351484"/>
            <a:ext cx="52387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351484"/>
            <a:ext cx="52387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3837384"/>
            <a:ext cx="47625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4. Implementation: The Exploit Chain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66750" y="1684734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 demonstrated that simply corrupting the output allows for a full reconstruction of the master secret key via two distinct steps: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6750" y="5294709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21A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Success: 100% Master Key Recovery achieved from a single malicious activation cycle.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04875" y="2627709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Step 1: Round-10 Key Extraction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04875" y="3075384"/>
            <a:ext cx="476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The corrupted ciphertext is XORed with a known value (0x1616...) to isolate the final round key.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24625" y="2627709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Step 2: Key Expansion Reversal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24625" y="3075384"/>
            <a:ext cx="476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 developed a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Python script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to reverse the AES Key Schedule. Starting from the extracted Round-10 key, it backtracks to recover the original master key.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867525" y="412313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905625" y="4123134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Automated the XOR operations.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867525" y="440888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905625" y="4408884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Verified against Trusted Round Key tables.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494234"/>
            <a:ext cx="523875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732484"/>
            <a:ext cx="52387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5. Implementation: Advanced Sequential Logic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666750" y="1684734"/>
            <a:ext cx="523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To increase stealth, a sequential Trojan was implemented. This requires the target plaintext to be seen</a:t>
            </a: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three times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consecutively.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524625" y="1770459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Design Lessons Learned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04875" y="3008709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Observed Anomaly &amp; Debugging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04875" y="3456384"/>
            <a:ext cx="476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During simulation, the Trojan activated on the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4th arriva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l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instead of the 3rd. Analysis revealed a timing synchronization issue between the counter register and the AES pipeline stages.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867525" y="219908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905625" y="2199084"/>
            <a:ext cx="438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Pipeline Lag: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Latency in the round key distribution affects trigger synchronization.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867525" y="277058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905625" y="2899800"/>
            <a:ext cx="43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Reset Failure: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The circuit failed to properly disengage after activation, causing persistent corruption.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867525" y="3627834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905625" y="3913575"/>
            <a:ext cx="43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Validation: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Highlighted the critical need for post-synthesis timing verification.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6. Analysis Flow: Industry Standard Tooling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66750" y="1684734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The project strictly followed the standard digital VLSI design flow using the Synopsys tool suite.</a:t>
            </a:r>
            <a:endParaRPr/>
          </a:p>
        </p:txBody>
      </p:sp>
      <p:graphicFrame>
        <p:nvGraphicFramePr>
          <p:cNvPr id="197" name="Google Shape;197;p19"/>
          <p:cNvGraphicFramePr/>
          <p:nvPr/>
        </p:nvGraphicFramePr>
        <p:xfrm>
          <a:off x="666750" y="22562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{E8582D87-25AD-4C5A-9DB3-8F8DA57B9C46}</a:tableStyleId>
              </a:tblPr>
              <a:tblGrid>
                <a:gridCol w="2381250"/>
                <a:gridCol w="3333750"/>
                <a:gridCol w="5143500"/>
              </a:tblGrid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Process Stage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Synopsys Tool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Technical 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A5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Logic Synthesis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Design Compiler (DC)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TCL scripts used to map RTL to gate-level netlists with .sdc constraints.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Simulation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VCS &amp; SimVision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Functional verification of Trojan-free vs. Trojan-inserted designs; VCD generation.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Power (Averaged)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PrimePower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Calculation of dynamic, internal, and leakage power over full execution.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Power (Time-Based)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PrimeTime (PX)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High-resolution waveform analysis to detect localized power spikes.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19"/>
          <p:cNvSpPr/>
          <p:nvPr/>
        </p:nvSpPr>
        <p:spPr>
          <a:xfrm>
            <a:off x="666750" y="3308746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048000" y="3308746"/>
            <a:ext cx="3333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381750" y="3308746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666750" y="3965971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048000" y="3965971"/>
            <a:ext cx="3333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381750" y="3965971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66750" y="4623196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048000" y="4623196"/>
            <a:ext cx="3333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381750" y="4623196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66750" y="5280421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3048000" y="5280421"/>
            <a:ext cx="3333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381750" y="5280421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5125" y="2541984"/>
            <a:ext cx="86201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5125" y="3018234"/>
            <a:ext cx="86201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970734"/>
            <a:ext cx="52387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970734"/>
            <a:ext cx="52387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05125" y="2541984"/>
            <a:ext cx="68961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05125" y="3018234"/>
            <a:ext cx="818911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7. Detection Metrics: PrimePower Results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66750" y="1684734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Averaged dynamic power analysis identifies the constant logic overhead introduced by the malicious modifications.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6750" y="2618184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Trojan-Free AES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66750" y="3094434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Trojan-Activated AES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000125" y="4246959"/>
            <a:ext cx="490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Change in </a:t>
            </a: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Average Dynamic Power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000125" y="4618434"/>
            <a:ext cx="466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4616"/>
                </a:solidFill>
                <a:latin typeface="Urbanist"/>
                <a:ea typeface="Urbanist"/>
                <a:cs typeface="Urbanist"/>
                <a:sym typeface="Urbanist"/>
              </a:rPr>
              <a:t>28.94</a:t>
            </a:r>
            <a:r>
              <a:rPr b="1" lang="en-US" sz="3600">
                <a:solidFill>
                  <a:srgbClr val="FA4616"/>
                </a:solidFill>
                <a:latin typeface="Urbanist"/>
                <a:ea typeface="Urbanist"/>
                <a:cs typeface="Urbanist"/>
                <a:sym typeface="Urbanist"/>
              </a:rPr>
              <a:t> µ</a:t>
            </a:r>
            <a:r>
              <a:rPr b="1" i="0" lang="en-US" sz="3600" u="none" cap="none" strike="noStrike">
                <a:solidFill>
                  <a:srgbClr val="FA4616"/>
                </a:solidFill>
                <a:latin typeface="Urbanist"/>
                <a:ea typeface="Urbanist"/>
                <a:cs typeface="Urbanist"/>
                <a:sym typeface="Urbanist"/>
              </a:rPr>
              <a:t>W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000125" y="5494734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Detectable overhead of active Trojan logic.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524625" y="4246959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Analysis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524625" y="4694634"/>
            <a:ext cx="476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This 28.94 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µ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W difference is the "Static Signature" of the Trojan. While small, it represents a quantifiable shift in the circuit's steady-state behavior, establishing our first detection baseline.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494234"/>
            <a:ext cx="523875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732484"/>
            <a:ext cx="52387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8. Detection Metrics: PrimeTime (PX) Results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66750" y="1684734"/>
            <a:ext cx="523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Time-based analysis provides granular visibility. While average power shows overhead,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PrimeTime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captures the "Moment of Activation."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524625" y="1732359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Waveform Observation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524625" y="2180034"/>
            <a:ext cx="476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Simulation of Value Change Dump (VCD) files revealed that the Trojan-inserted design remains indistinguishable from the Golden design except at the cycle where the malicious trigger condition is met.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524625" y="3513534"/>
            <a:ext cx="4762500" cy="57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Power analysis is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more effective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than functional testing for detecting covert Trojans.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14400" y="2980134"/>
            <a:ext cx="498062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Peak Power Delta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914400" y="3542109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0.1267 W (Active)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 0.1266 W (Free)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914400" y="4761309"/>
            <a:ext cx="47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A4616"/>
                </a:solidFill>
                <a:latin typeface="Urbanist"/>
                <a:ea typeface="Urbanist"/>
                <a:cs typeface="Urbanist"/>
                <a:sym typeface="Urbanist"/>
              </a:rPr>
              <a:t>Signature: 100</a:t>
            </a:r>
            <a:r>
              <a:rPr b="1" lang="en-US" sz="1800">
                <a:solidFill>
                  <a:srgbClr val="FA4616"/>
                </a:solidFill>
                <a:latin typeface="Urbanist"/>
                <a:ea typeface="Urbanist"/>
                <a:cs typeface="Urbanist"/>
                <a:sym typeface="Urbanist"/>
              </a:rPr>
              <a:t> µW</a:t>
            </a:r>
            <a:r>
              <a:rPr b="1" i="0" lang="en-US" sz="1800" u="none" cap="none" strike="noStrike">
                <a:solidFill>
                  <a:srgbClr val="FA4616"/>
                </a:solidFill>
                <a:latin typeface="Urbanist"/>
                <a:ea typeface="Urbanist"/>
                <a:cs typeface="Urbanist"/>
                <a:sym typeface="Urbanist"/>
              </a:rPr>
              <a:t> Spike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00" y="1466550"/>
            <a:ext cx="11401501" cy="523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666750" y="760809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8. Detection Metrics: PrimeTime (PX) Results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494234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494234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2700" y="1494234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666750" y="760809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9. Conclusions &amp; Strategic Takeaways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666750" y="1218009"/>
            <a:ext cx="10858500" cy="381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1028700" y="4970859"/>
            <a:ext cx="104965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"This research establishes a practical framework for identifying compromised circuits in high-security environments where hardware trust is paramount."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04875" y="1770459"/>
            <a:ext cx="31669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Technical Summary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904875" y="2218134"/>
            <a:ext cx="3016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Successfully demonstrated the full lifecycle: Trojan implementation 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-&gt;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Synthesis </a:t>
            </a:r>
            <a:endParaRPr sz="1500">
              <a:solidFill>
                <a:srgbClr val="33415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-&gt;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Simulation </a:t>
            </a:r>
            <a:endParaRPr sz="1500">
              <a:solidFill>
                <a:srgbClr val="33415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-&gt;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Side-channel detection.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587775" y="1770459"/>
            <a:ext cx="316711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Detection Reliability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4587775" y="2218134"/>
            <a:ext cx="3016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Identified a reliable detection threshold of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100 mW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peak power signature, validating non-invasive detection methods.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270825" y="1770459"/>
            <a:ext cx="31669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A5"/>
                </a:solidFill>
                <a:latin typeface="Urbanist"/>
                <a:ea typeface="Urbanist"/>
                <a:cs typeface="Urbanist"/>
                <a:sym typeface="Urbanist"/>
              </a:rPr>
              <a:t>Crypto Integrity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8270825" y="2218134"/>
            <a:ext cx="3016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Proved that localized round-key corruption allows for 100% master key retrieval through schedule backtracking.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